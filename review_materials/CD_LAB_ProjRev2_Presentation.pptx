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62895" cy="1828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B7280"/>
                </a:solidFill>
                <a:latin typeface="Calibri"/>
              </a:defRPr>
            </a:pPr>
            <a:r>
              <a:t>COMPILER DESIGN LAB — PROJECT REVIEW 2</a:t>
            </a:r>
          </a:p>
          <a:p>
            <a:pPr>
              <a:spcAft>
                <a:spcPts val="800"/>
              </a:spcAft>
              <a:defRPr sz="3200" b="1">
                <a:solidFill>
                  <a:srgbClr val="111827"/>
                </a:solidFill>
                <a:latin typeface="Calibri"/>
              </a:defRPr>
            </a:pPr>
            <a:r>
              <a:t>DAG-Based Optimization for Basic Blocks</a:t>
            </a:r>
          </a:p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Implementation Milestone: 75%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36289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11827"/>
                </a:solidFill>
                <a:latin typeface="Calibri"/>
              </a:defRPr>
            </a:pPr>
            <a:r>
              <a:t>PROJECT TEAM MEMBERS:</a:t>
            </a:r>
          </a:p>
          <a:p>
            <a:pPr>
              <a:spcAft>
                <a:spcPts val="4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• Abhinav Gupta (24BCT0185)</a:t>
            </a:r>
          </a:p>
          <a:p>
            <a:pPr>
              <a:spcAft>
                <a:spcPts val="4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• Shobit Khanna (24BCT0187)</a:t>
            </a:r>
          </a:p>
          <a:p>
            <a:pPr>
              <a:spcAft>
                <a:spcPts val="4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• Arnav Goel (24BCT0189)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1. 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Context &amp; Challenges in Intermediate Code: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Redundant Computations: </a:t>
            </a:r>
            <a:r>
              <a:rPr>
                <a:solidFill>
                  <a:srgbClr val="374151"/>
                </a:solidFill>
              </a:rPr>
              <a:t>Intermediate Three-Address Code (TAC) generated by compiler frontends repeatedly recomputes identical values, wasting CPU cycles and execution time.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Register &amp; Memory Pressure: </a:t>
            </a:r>
            <a:r>
              <a:rPr>
                <a:solidFill>
                  <a:srgbClr val="374151"/>
                </a:solidFill>
              </a:rPr>
              <a:t>Allocating separate temporary registers for identical expressions clutters register allocation and increases memory traffic.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Dynamic Reassignment: </a:t>
            </a:r>
            <a:r>
              <a:rPr>
                <a:solidFill>
                  <a:srgbClr val="374151"/>
                </a:solidFill>
              </a:rPr>
              <a:t>Variables modified within a basic block must be tracked strictly so that stale values are not incorrectly reused.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Optimization Scope: </a:t>
            </a:r>
            <a:r>
              <a:rPr>
                <a:solidFill>
                  <a:srgbClr val="374151"/>
                </a:solidFill>
              </a:rPr>
              <a:t>A Directed Acyclic Graph (DAG) exposes common subexpressions, commutative equivalences, and algebraic simplifications across basic blocks.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8764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Optimization Goal (Before vs After):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2011680"/>
          <a:ext cx="48764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767535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Unoptimized (Before)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Optimized (After)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Action Taken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t1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t1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Initial Computation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t2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t2 =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CSE: Reuses Node t1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t3 = 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t3 = 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Initial Computation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t4 = t3 -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t4 = t3 -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Computation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t5 = 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t5 = 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CSE: Reuses Node t3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t6 = t5 - 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t6 = 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Transitive Elimination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2. Project Review Milestones (75% Milestone Breakdown)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Calibri"/>
              </a:defRPr>
            </a:pPr>
            <a:r>
              <a:t>Phased engineering roadmap from conceptual formulation to full basic block optimization: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463040"/>
                <a:gridCol w="6522415"/>
              </a:tblGrid>
              <a:tr h="98298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Deliverables &amp; Implementation Scope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Review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Problem definition, initial DAGNode struct, proof-of-concept DAG construction on toy 4-line hardcoded expression.</a:t>
                      </a:r>
                    </a:p>
                  </a:txBody>
                  <a:tcPr/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Review 2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Full TAC file parser &amp; tokenizer, modular C++ architecture (include/ &amp; src/), O(1) Value Numbering, Commutative CSE, Dragon Book Node Kill, Constant Folding, Algebraic Identities, Code Generator, Graphviz Visualizer, 5 Benchmark Suites.</a:t>
                      </a:r>
                    </a:p>
                  </a:txBody>
                  <a:tcPr/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Review 3 (Final)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Future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Multi-block Control Flow Graph (CFG) construction, Live Variable Analysis, Global Dead Code Elimination, Target Assembly Generation (MIPS / x86).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3. System Architecture &amp; Modular Codebase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latin typeface="Calibri"/>
              </a:defRPr>
            </a:pPr>
            <a:r>
              <a:t>Pipeline Architecture Flow: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1. Input TAC File (.tac): </a:t>
            </a:r>
            <a:r>
              <a:rPr>
                <a:solidFill>
                  <a:srgbClr val="374151"/>
                </a:solidFill>
              </a:rPr>
              <a:t>Raw Three-Address Code with comments, binary, unary, and constant instructions.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2. Tokenizer &amp; Parser (TACParser): </a:t>
            </a:r>
            <a:r>
              <a:rPr>
                <a:solidFill>
                  <a:srgbClr val="374151"/>
                </a:solidFill>
              </a:rPr>
              <a:t>Strips whitespace and comments (#, //), maps tokens into strongly-typed Instruction objects.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3. DAG Optimization Engine: </a:t>
            </a:r>
            <a:r>
              <a:rPr>
                <a:solidFill>
                  <a:srgbClr val="374151"/>
                </a:solidFill>
              </a:rPr>
              <a:t>Constructs DAG, performs O(1) hash signature lookup, commutative normalization, variable detachment, constant evaluation, and algebraic reductions.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4. Code Generator: </a:t>
            </a:r>
            <a:r>
              <a:rPr>
                <a:solidFill>
                  <a:srgbClr val="374151"/>
                </a:solidFill>
              </a:rPr>
              <a:t>Traverses and replays DAG nodes in topological order to formulate shortened, valid TAC.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5. Outputs: </a:t>
            </a:r>
            <a:r>
              <a:rPr>
                <a:solidFill>
                  <a:srgbClr val="374151"/>
                </a:solidFill>
              </a:rPr>
              <a:t>Generates optimized TAC file and Graphviz (.dot) graph visualization.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1463040"/>
          <a:ext cx="53336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22015"/>
              </a:tblGrid>
              <a:tr h="5943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Module / 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include/Instruction.h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InstructionType enum and TAC data structures.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include/DAGNode.h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DAGNode structure, step records, statistics.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src/TACParser.cpp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Dynamic file reader and token parser.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src/DAGOptimizer.cpp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Value numbering, CSE, constant folding, code generation.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src/Visualizer.cpp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Graphviz DOT exporter &amp; console formatters.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src/BenchmarkRunner.cpp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Automated test suite execution logic.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>
                          <a:latin typeface="Consolas"/>
                        </a:defRPr>
                      </a:pPr>
                      <a:r>
                        <a:t>src/main.cpp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Calibri"/>
                        </a:defRPr>
                      </a:pPr>
                      <a:r>
                        <a:t>CLI argument parser and interactive UI menu.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4. Optimization Techniques: CSE &amp; Commutative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827"/>
                </a:solidFill>
                <a:latin typeface="Calibri"/>
              </a:defRPr>
            </a:pPr>
            <a:r>
              <a:t>A. Common Subexpression Elimination (CSE) via O(1) Value Numbering</a:t>
            </a:r>
          </a:p>
          <a:p>
            <a:pPr>
              <a:spcAft>
                <a:spcPts val="1200"/>
              </a:spcAft>
              <a:defRPr sz="1050">
                <a:solidFill>
                  <a:srgbClr val="374151"/>
                </a:solidFill>
              </a:defRPr>
            </a:pPr>
            <a:r>
              <a:t>• Rather than looping through previous instructions in O(N^2) time, the optimizer computes a signature for each operation: sig = op(leftId, rightId).</a:t>
            </a:r>
            <a:br/>
            <a:r>
              <a:t>• A hash map lookup (valueNumbering[sig]) verifies uniqueness in O(1) average time.</a:t>
            </a:r>
            <a:br/>
            <a:r>
              <a:t>• If found, the existing node's primary variable is reused, eliminating duplicate computation.</a:t>
            </a:r>
          </a:p>
          <a:p>
            <a:pPr>
              <a:spcAft>
                <a:spcPts val="400"/>
              </a:spcAft>
              <a:defRPr sz="1300" b="1">
                <a:solidFill>
                  <a:srgbClr val="111827"/>
                </a:solidFill>
                <a:latin typeface="Calibri"/>
              </a:defRPr>
            </a:pPr>
            <a:r>
              <a:t>B. Commutative Operator Normalization</a:t>
            </a:r>
          </a:p>
          <a:p>
            <a:pPr>
              <a:spcAft>
                <a:spcPts val="1000"/>
              </a:spcAft>
              <a:defRPr sz="1050">
                <a:solidFill>
                  <a:srgbClr val="374151"/>
                </a:solidFill>
              </a:defRPr>
            </a:pPr>
            <a:r>
              <a:t>• In mathematics, operations such as a + b and b + a are identical, but naive compiler passes treat them as separate.</a:t>
            </a:r>
            <a:br/>
            <a:r>
              <a:t>• Our optimizer identifies commutative operators: +, *, &amp;, |, ^, ==, !=</a:t>
            </a:r>
            <a:br/>
            <a:r>
              <a:t>• Canonical signature: If isCommutative(op) and leftId &gt; rightId, the operand IDs are sorted min(leftId, rightId), max(leftId, rightId).</a:t>
            </a:r>
            <a:br/>
            <a:r>
              <a:t>• Guarantees that expressions with swapped operands map to the exact same DAG node.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66344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327855"/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Input TAC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Generated Signature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Optimization Action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t1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+(0,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Creates Node 2 (Primary: t1)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t2 = b +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+(0, 1) [Sorted]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Reuses Node 2 -&gt; Emits 't2 = t1' (Redundant Cut)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5. Optimization Techniques: Node Kill &amp; Constant Folding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latin typeface="Calibri"/>
              </a:defRPr>
            </a:pPr>
            <a:r>
              <a:t>Dragon Book Variable Reassignment &amp; Kill:</a:t>
            </a:r>
          </a:p>
          <a:p>
            <a:pPr>
              <a:spcAft>
                <a:spcPts val="400"/>
              </a:spcAft>
              <a:defRPr sz="1000">
                <a:solidFill>
                  <a:srgbClr val="374151"/>
                </a:solidFill>
              </a:defRPr>
            </a:pPr>
            <a:r>
              <a:t>• Challenge: If variable 'a' is reassigned inside a basic block (e.g. a = 10), subsequent uses of 'a' must not reference the old value.</a:t>
            </a:r>
          </a:p>
          <a:p>
            <a:pPr>
              <a:spcAft>
                <a:spcPts val="400"/>
              </a:spcAft>
              <a:defRPr sz="1000">
                <a:solidFill>
                  <a:srgbClr val="374151"/>
                </a:solidFill>
              </a:defRPr>
            </a:pPr>
            <a:r>
              <a:t>• Detach Mechanism: detachVariable(a) removes 'a' from the previous node's active labels list and clears varToNode[a].</a:t>
            </a:r>
          </a:p>
          <a:p>
            <a:pPr>
              <a:spcAft>
                <a:spcPts val="400"/>
              </a:spcAft>
              <a:defRPr sz="1000">
                <a:solidFill>
                  <a:srgbClr val="374151"/>
                </a:solidFill>
              </a:defRPr>
            </a:pPr>
            <a:r>
              <a:t>• Rebind: attachVariable(a, newNodeId) attaches 'a' to the newly computed node.</a:t>
            </a:r>
          </a:p>
          <a:p>
            <a:pPr>
              <a:spcAft>
                <a:spcPts val="400"/>
              </a:spcAft>
              <a:defRPr sz="1000">
                <a:solidFill>
                  <a:srgbClr val="374151"/>
                </a:solidFill>
              </a:defRPr>
            </a:pPr>
            <a:r>
              <a:t>• Result: Prevents semantic aliasing bugs while preserving valid expressions using previous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latin typeface="Calibri"/>
              </a:defRPr>
            </a:pPr>
            <a:r>
              <a:t>Constant Folding &amp; Algebraic Identities: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2011680"/>
          <a:ext cx="52422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2316175"/>
              </a:tblGrid>
              <a:tr h="58782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Identity / Rule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Input TAC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Simplified Output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Constant 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t1 = 12 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t1 = 20 (Folded)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Constant 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t2 = t1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t2 = 40 (Folded)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Identity: x + 0 =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t3 = b 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t3 = b (Identity)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Identity: x * 1 =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t4 = a *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t4 = a (Identity)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Identity: x * 0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t5 = c *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t5 = 0 (Annihilator)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Identity: x - x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t6 = d -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t6 = 0 (Zero Rule)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6. Code Generation &amp; Visual DAG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latin typeface="Calibri"/>
              </a:defRPr>
            </a:pPr>
            <a:r>
              <a:t>Chronological Replay Code Generation: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Execution Order Replay: </a:t>
            </a:r>
            <a:r>
              <a:rPr>
                <a:solidFill>
                  <a:srgbClr val="374151"/>
                </a:solidFill>
              </a:rPr>
              <a:t>Walks the sequential processed steps rather than an arbitrary traversal, ensuring variable lifetimes remain strictly correct.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Primary Variable Binding: </a:t>
            </a:r>
            <a:r>
              <a:rPr>
                <a:solidFill>
                  <a:srgbClr val="374151"/>
                </a:solidFill>
              </a:rPr>
              <a:t>When emitting an operation, it looks up the currently valid active representative variable for child nodes.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Clean Alias Emission: </a:t>
            </a:r>
            <a:r>
              <a:rPr>
                <a:solidFill>
                  <a:srgbClr val="374151"/>
                </a:solidFill>
              </a:rPr>
              <a:t>For expressions identified as common subexpressions, emits a lightweight copy assignment (e.g. t2 = t1), guaranteeing live-out variables remain defined.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Dead Temporary Elimination: </a:t>
            </a:r>
            <a:r>
              <a:rPr>
                <a:solidFill>
                  <a:srgbClr val="374151"/>
                </a:solidFill>
              </a:rPr>
              <a:t>Optional aggressive mode eliminates intermediate temporary copies when variables are not used outside the basic block.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latin typeface="Calibri"/>
              </a:defRPr>
            </a:pPr>
            <a:r>
              <a:t>Automated Graphviz DOT Exporter: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Direct Graph Serialization: </a:t>
            </a:r>
            <a:r>
              <a:rPr>
                <a:solidFill>
                  <a:srgbClr val="374151"/>
                </a:solidFill>
              </a:rPr>
              <a:t>The system automatically exports finalized DAG nodes and directed edges to standard .dot format (dag_output.dot).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Node Categorization: </a:t>
            </a:r>
            <a:r>
              <a:rPr>
                <a:solidFill>
                  <a:srgbClr val="374151"/>
                </a:solidFill>
              </a:rPr>
              <a:t>Leaf variables, constant nodes, and internal operator nodes are tagged with distinct labels and active variables.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Visual Proof of Merging: </a:t>
            </a:r>
            <a:r>
              <a:rPr>
                <a:solidFill>
                  <a:srgbClr val="374151"/>
                </a:solidFill>
              </a:rPr>
              <a:t>Multiple variables attached to a single computation node visually verify Common Subexpression Elimination for review panels.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Instant Rendering: </a:t>
            </a:r>
            <a:r>
              <a:rPr>
                <a:solidFill>
                  <a:srgbClr val="374151"/>
                </a:solidFill>
              </a:rPr>
              <a:t>Compatible with Graphviz CLI (dot -Tpng) and browser viewers (Graphviz Online, Edotor).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7. System Verification: Execution Audit on Benchmark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latin typeface="Calibri"/>
              </a:defRPr>
            </a:pPr>
            <a:r>
              <a:t>Verified Execution Output (Benchmark 1 - README):</a:t>
            </a:r>
          </a:p>
          <a:p>
            <a:pPr>
              <a:defRPr sz="850">
                <a:solidFill>
                  <a:srgbClr val="111827"/>
                </a:solidFill>
                <a:latin typeface="Consolas"/>
              </a:defRPr>
            </a:pPr>
            <a:r>
              <a:t>[INFO] Processing TAC file: samples/sample1_readme.tac</a:t>
            </a:r>
            <a:br/>
            <a:br/>
            <a:r>
              <a:t>--- Optimization Pipeline Audit Log ---</a:t>
            </a:r>
            <a:br/>
            <a:r>
              <a:t>  1. CSE: 't2 = a * b' maps to existing Node 2 [Rep: t1]</a:t>
            </a:r>
            <a:br/>
            <a:r>
              <a:t>  2. CSE: 't5 = c + d' maps to existing Node 5 [Rep: t3]</a:t>
            </a:r>
            <a:br/>
            <a:r>
              <a:t>  3. CSE: 't6 = t5 - t2' maps to existing Node 6 [Rep: t4]</a:t>
            </a:r>
            <a:br/>
            <a:br/>
            <a:r>
              <a:t>--- Constructed DAG Nodes ---</a:t>
            </a:r>
            <a:br/>
            <a:r>
              <a:t>Node 0: 'a'  | Labels: [a]</a:t>
            </a:r>
            <a:br/>
            <a:r>
              <a:t>Node 1: 'b'  | Labels: [b]</a:t>
            </a:r>
            <a:br/>
            <a:r>
              <a:t>Node 2: '*'  | Left: 0, Right: 1 | Labels: [t1, t2]</a:t>
            </a:r>
            <a:br/>
            <a:r>
              <a:t>Node 3: 'c'  | Labels: [c]</a:t>
            </a:r>
            <a:br/>
            <a:r>
              <a:t>Node 4: 'd'  | Labels: [d]</a:t>
            </a:r>
            <a:br/>
            <a:r>
              <a:t>Node 5: '+'  | Left: 3, Right: 4 | Labels: [t3, t5]</a:t>
            </a:r>
            <a:br/>
            <a:r>
              <a:t>Node 6: '-'  | Left: 5, Right: 2 | Labels: [t4, t6]</a:t>
            </a:r>
            <a:br/>
            <a:br/>
            <a:r>
              <a:t>[SUCCESS] Exported DAG to Graphviz: dag_output.dot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463040"/>
          <a:ext cx="496793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99055"/>
              </a:tblGrid>
              <a:tr h="47026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Input TAC (Before)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Optimized Output (After)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t1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t1 = a * b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t2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t2 = t1  (CSE Reused)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t3 = 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t3 = c + d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t4 = t3 - 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t4 = t3 - t1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t5 = 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t5 = t3  (CSE Reused)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t6 = t5 - 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onsolas"/>
                        </a:defRPr>
                      </a:pPr>
                      <a:r>
                        <a:t>t6 = t4  (Transitive Cut)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4937760"/>
            <a:ext cx="49679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latin typeface="Calibri"/>
              </a:defRPr>
            </a:pPr>
            <a:r>
              <a:t>EMPIRICAL METRICS SUMMARY:</a:t>
            </a:r>
          </a:p>
          <a:p>
            <a:pPr>
              <a:defRPr sz="1000">
                <a:solidFill>
                  <a:srgbClr val="374151"/>
                </a:solidFill>
                <a:latin typeface="Calibri"/>
              </a:defRPr>
            </a:pPr>
            <a:r>
              <a:t>• Total Original Instructions: 6</a:t>
            </a:r>
          </a:p>
          <a:p>
            <a:pPr>
              <a:defRPr sz="1000">
                <a:solidFill>
                  <a:srgbClr val="374151"/>
                </a:solidFill>
                <a:latin typeface="Calibri"/>
              </a:defRPr>
            </a:pPr>
            <a:r>
              <a:t>• Redundant Computations Eliminated: 3 (50.0% Reduction)</a:t>
            </a:r>
          </a:p>
          <a:p>
            <a:pPr>
              <a:defRPr sz="1000">
                <a:solidFill>
                  <a:srgbClr val="374151"/>
                </a:solidFill>
                <a:latin typeface="Calibri"/>
              </a:defRPr>
            </a:pPr>
            <a:r>
              <a:t>• Value Numbering Lookups: 100% O(1) Constant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8. Empirical Benchmark Evaluation (5 Test Cases)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151"/>
                </a:solidFill>
                <a:latin typeface="Calibri"/>
              </a:defRPr>
            </a:pPr>
            <a:r>
              <a:t>Comprehensive performance and correctness evaluation across distinct intermediate code patterns: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005840"/>
                <a:gridCol w="1097280"/>
                <a:gridCol w="1188720"/>
                <a:gridCol w="3047695"/>
              </a:tblGrid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Benchmark Suite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Input 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Redundant Cut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Key Optimization Demonstrated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Test 1: Readme 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sample1_readme.tac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3 (50.0%)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Standard CSE and transitive expression reuse.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Test 2: Commutativity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sample2_commutative.tac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3 (50.0%)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Commutative equivalence on '+' and '*' operators.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Test 3: Reassignment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sample3_reassignment.tac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1 (16.7%)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Dragon Book node kill &amp; label detach validation.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Test 4: Constant/Identities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sample4_constant_folding.tac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7 (100.0%)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3 constant foldings + 4 algebraic identities.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Test 5: Matrix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onsolas"/>
                        </a:defRPr>
                      </a:pPr>
                      <a:r>
                        <a:t>sample5_matrix_offset.tac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6 (46.2%)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Repeated 2D array offset address calculations.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COMPILER DESIGN LAB | PROJECT REVIEW 2 (75%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alibri"/>
              </a:defRPr>
            </a:pPr>
            <a:r>
              <a:t>9. Conclusion &amp; Plan for Review 3 (100% Scope)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latin typeface="Calibri"/>
              </a:defRPr>
            </a:pPr>
            <a:r>
              <a:t>Summary of Review 2 Deliverables (75%):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Complete Basic Block Engine: </a:t>
            </a:r>
            <a:r>
              <a:rPr>
                <a:solidFill>
                  <a:srgbClr val="374151"/>
                </a:solidFill>
              </a:rPr>
              <a:t>Transitioned successfully from a toy hardcoded concept to a production-grade, modular C++ optimizer.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Robust Optimization Suite: </a:t>
            </a:r>
            <a:r>
              <a:rPr>
                <a:solidFill>
                  <a:srgbClr val="374151"/>
                </a:solidFill>
              </a:rPr>
              <a:t>Value Numbering, Commutative Matching, Reassignment Node Kill, Constant Folding, and Algebraic Reductions fully implemented and validated.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Verified Code Generation: </a:t>
            </a:r>
            <a:r>
              <a:rPr>
                <a:solidFill>
                  <a:srgbClr val="374151"/>
                </a:solidFill>
              </a:rPr>
              <a:t>Reconstructs valid, optimized TAC files and exports Graphviz .dot visual DAG diagrams.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Zero Warnings Build: </a:t>
            </a:r>
            <a:r>
              <a:rPr>
                <a:solidFill>
                  <a:srgbClr val="374151"/>
                </a:solidFill>
              </a:rPr>
              <a:t>Compiles cleanly under -Wall -Wextra with automated GNU Makefile, PowerShell, and Batch test scripts.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422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latin typeface="Calibri"/>
              </a:defRPr>
            </a:pPr>
            <a:r>
              <a:t>Remaining Scope for Review 3 (100% Final):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Control Flow Graph (CFG) Construction: </a:t>
            </a:r>
            <a:r>
              <a:rPr>
                <a:solidFill>
                  <a:srgbClr val="374151"/>
                </a:solidFill>
              </a:rPr>
              <a:t>Partition multi-block intermediate code into leaders, basic blocks, and directed control edges for branches and jumps.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Global Dataflow Analysis: </a:t>
            </a:r>
            <a:r>
              <a:rPr>
                <a:solidFill>
                  <a:srgbClr val="374151"/>
                </a:solidFill>
              </a:rPr>
              <a:t>Implement Reaching Definitions and Live Variable Analysis across multiple block boundaries.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Global Dead Code Elimination: </a:t>
            </a:r>
            <a:r>
              <a:rPr>
                <a:solidFill>
                  <a:srgbClr val="374151"/>
                </a:solidFill>
              </a:rPr>
              <a:t>Eliminate dead stores and unused temporary registers globally.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>
                <a:solidFill>
                  <a:srgbClr val="111827"/>
                </a:solidFill>
              </a:rPr>
              <a:t>Target Assembly Code Emission: </a:t>
            </a:r>
            <a:r>
              <a:rPr>
                <a:solidFill>
                  <a:srgbClr val="374151"/>
                </a:solidFill>
              </a:rPr>
              <a:t>Translate optimized intermediate representations to target architecture instructions (MIPS or x86).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